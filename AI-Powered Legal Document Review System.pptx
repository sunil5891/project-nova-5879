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BCD5A-6BDA-4420-A5B1-AB8215CAF257}" v="1" dt="2025-11-07T08:24:55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Singh, Sunil E." userId="5884aea5-d3c2-44fb-854a-8136ffbda814" providerId="ADAL" clId="{42ECFFBF-6C1B-49FF-A4C3-5F63461817D7}"/>
    <pc:docChg chg="modSld">
      <pc:chgData name="Kumar Singh, Sunil E." userId="5884aea5-d3c2-44fb-854a-8136ffbda814" providerId="ADAL" clId="{42ECFFBF-6C1B-49FF-A4C3-5F63461817D7}" dt="2025-11-07T08:25:23.614" v="9" actId="255"/>
      <pc:docMkLst>
        <pc:docMk/>
      </pc:docMkLst>
      <pc:sldChg chg="addSp modSp mod">
        <pc:chgData name="Kumar Singh, Sunil E." userId="5884aea5-d3c2-44fb-854a-8136ffbda814" providerId="ADAL" clId="{42ECFFBF-6C1B-49FF-A4C3-5F63461817D7}" dt="2025-11-07T08:25:23.614" v="9" actId="255"/>
        <pc:sldMkLst>
          <pc:docMk/>
          <pc:sldMk cId="4258874030" sldId="256"/>
        </pc:sldMkLst>
        <pc:spChg chg="mod">
          <ac:chgData name="Kumar Singh, Sunil E." userId="5884aea5-d3c2-44fb-854a-8136ffbda814" providerId="ADAL" clId="{42ECFFBF-6C1B-49FF-A4C3-5F63461817D7}" dt="2025-11-07T08:24:32.957" v="1" actId="1076"/>
          <ac:spMkLst>
            <pc:docMk/>
            <pc:sldMk cId="4258874030" sldId="256"/>
            <ac:spMk id="7" creationId="{10E4203D-F13F-2D98-F3C3-2906E8E9B022}"/>
          </ac:spMkLst>
        </pc:spChg>
        <pc:spChg chg="add mod">
          <ac:chgData name="Kumar Singh, Sunil E." userId="5884aea5-d3c2-44fb-854a-8136ffbda814" providerId="ADAL" clId="{42ECFFBF-6C1B-49FF-A4C3-5F63461817D7}" dt="2025-11-07T08:25:23.614" v="9" actId="255"/>
          <ac:spMkLst>
            <pc:docMk/>
            <pc:sldMk cId="4258874030" sldId="256"/>
            <ac:spMk id="8" creationId="{284E19FC-1BCF-B14A-89E4-A436B30358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B1AF-171B-BCE9-DE08-90A9DBCF3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B8D75-40FB-012D-2427-4CD636B95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E0844-5195-469C-A720-EA389A3F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5F66C-68C3-A9DD-7A78-6BB70114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69437-9E12-F8BF-04FC-41DAB1B1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8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647D-E30E-4638-4A59-2E04BA96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25CD8-D26E-4948-EA3D-A5112A4C6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69619-2A1D-3755-2FE9-98295925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D12D-B7ED-2D86-E7F0-F255F057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A7033-C8C4-46AF-2C4A-FAC613C1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1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D171-FABA-9AD6-6D36-389A120D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4DFC7-B3EE-BB79-67DA-1CE7BDE0E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58197-3146-2C67-54C6-6A4F23F0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6A0C7-FA63-0F90-07A4-72326D31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3E9A0-B91C-0F83-546E-13D2D839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EA0E-585B-1088-02D4-5019DC62E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6013E-727B-DED1-AE96-187F6DE79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25AB9-370D-DCB2-3BA3-23C589C88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E5CD0-93DE-CF66-7534-E0376ABBF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83806-55C3-1A32-F984-628CA398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5BF5C-5118-048E-E027-D606307D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9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F671-0E04-8D46-E74C-77BDCBE1F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BAB22-F64F-6B19-A7BB-91004FE1D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B4353-A486-B366-541E-F79B0DF11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9FDFE-4E80-E907-E6D3-BEC8D06ED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E6820-BD01-6055-87D2-D71DD69EC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9BB88-BF42-ACDF-1B95-E5FB809E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E84FD-9DCC-8264-FEC9-DA70D3D6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743C5-4050-A83A-8704-C2CCEEB3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5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6347-1786-AAD5-9AA6-C39B9394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C7B4D-2E80-E570-5B34-89F5A84B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FFB80-920A-53F1-8F80-1702DD983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6CCA-4CDC-011F-D779-712B6EAD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9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2A9B5-A950-541C-9FCC-EA4A4D9C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1E572-1D63-1E86-F479-79555672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23910-B579-A8D5-52B1-AD33CDD1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4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2ADB-36B7-6224-6A84-F5103DDB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3F4E-FF3D-16B4-186B-7AB4410FB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08D7D-913C-7371-1ACF-A8156C04D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F7B01-6DB9-508D-BC96-BBC925522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0D398-A418-671D-0C80-A391A8EB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1333C-ED25-6DF4-45E5-A36D06E4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E19F-A449-7BE1-1AEE-ECA20A17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33E05-66B4-5463-38B6-0FE20E4D6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894B3-ED1C-BF96-00C8-AE2715207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7CD9B-40AC-1DA0-9631-4644CE4C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85669-F6D3-9AD0-6AE8-AD97E964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30E40-3AF9-261D-8C2E-8D38B08B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7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B2C1-4E41-14C5-95B7-E99E2492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B2F71-75D7-21A8-48BF-4DD33E788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62A1-DA3C-330C-A4AB-27EED223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28FA-F97A-721D-5E20-1748F69B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9BEF7-2F5E-DFCF-B6AF-49638161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7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81958-CD5F-149F-20B1-3F08B8CE0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5AF04-3039-04FD-D059-7C7C6659B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2228-B82F-4615-65A7-6E8B31C7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C84CD-3133-9A6E-26FF-3384F73E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9A642-C5F1-5B36-CE22-5E1CD9208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9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07BE4-CB74-C9B7-B663-47923BDE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34B33-207E-D4C2-8053-E1FA2FF4C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45A79-721E-93D6-BA68-885B074E2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1DB9F-C33A-4D7C-BFAD-A4E4E31AF2A6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7AE73-6E92-CE4D-91AB-036E9680D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79556-4C85-95B6-39C5-11EF1DB1C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D3082-1AB9-4889-9A67-760DCE426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6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E4203D-F13F-2D98-F3C3-2906E8E9B022}"/>
              </a:ext>
            </a:extLst>
          </p:cNvPr>
          <p:cNvSpPr txBox="1"/>
          <p:nvPr/>
        </p:nvSpPr>
        <p:spPr>
          <a:xfrm>
            <a:off x="348342" y="1175218"/>
            <a:ext cx="1123405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1️⃣. Trigger &amp; Initialize</a:t>
            </a:r>
            <a:r>
              <a:rPr lang="en-US" dirty="0"/>
              <a:t> – The workflow starts when a new file is uploaded to Azure Blob Storage, initializing Semantic Kernel and AI Foundry connections.</a:t>
            </a:r>
          </a:p>
          <a:p>
            <a:pPr>
              <a:buNone/>
            </a:pPr>
            <a:r>
              <a:rPr lang="en-US" b="1" dirty="0"/>
              <a:t>2️⃣. Document Retrieval</a:t>
            </a:r>
            <a:r>
              <a:rPr lang="en-US" dirty="0"/>
              <a:t> – The Document Ingestion Agent fetches and reads raw documents (PDF, DOCX, TXT) from the blob container.</a:t>
            </a:r>
          </a:p>
          <a:p>
            <a:pPr>
              <a:buNone/>
            </a:pPr>
            <a:r>
              <a:rPr lang="en-US" b="1" dirty="0"/>
              <a:t>3️⃣. Text Conversion &amp; Chunking</a:t>
            </a:r>
            <a:r>
              <a:rPr lang="en-US" dirty="0"/>
              <a:t> – Each document is converted to plain text and divided into smaller chunks for embedding.</a:t>
            </a:r>
          </a:p>
          <a:p>
            <a:pPr>
              <a:buNone/>
            </a:pPr>
            <a:r>
              <a:rPr lang="en-US" b="1" dirty="0"/>
              <a:t>4️⃣. Embedding &amp; Memory Storage</a:t>
            </a:r>
            <a:r>
              <a:rPr lang="en-US" dirty="0"/>
              <a:t> – Chunks are embedded using Azure OpenAI and stored in Semantic Kernel’s vector memory (“</a:t>
            </a:r>
            <a:r>
              <a:rPr lang="en-US" dirty="0" err="1"/>
              <a:t>contract_kb</a:t>
            </a:r>
            <a:r>
              <a:rPr lang="en-US" dirty="0"/>
              <a:t>”).</a:t>
            </a:r>
          </a:p>
          <a:p>
            <a:pPr>
              <a:buNone/>
            </a:pPr>
            <a:r>
              <a:rPr lang="en-US" b="1" dirty="0"/>
              <a:t>5️⃣. Context Retrieval (RAG)</a:t>
            </a:r>
            <a:r>
              <a:rPr lang="en-US" dirty="0"/>
              <a:t> – Semantic Kernel retrieves the most relevant text snippets from memory when processing queries.</a:t>
            </a:r>
          </a:p>
          <a:p>
            <a:pPr>
              <a:buNone/>
            </a:pPr>
            <a:r>
              <a:rPr lang="en-US" b="1" dirty="0"/>
              <a:t>6️⃣. Clause Extraction Agent</a:t>
            </a:r>
            <a:r>
              <a:rPr lang="en-US" dirty="0"/>
              <a:t> – Uses an Azure AI Foundry LLM to identify and extract key clauses from retrieved text.</a:t>
            </a:r>
          </a:p>
          <a:p>
            <a:pPr>
              <a:buNone/>
            </a:pPr>
            <a:r>
              <a:rPr lang="en-US" b="1" dirty="0"/>
              <a:t>7️⃣. Compliance Validation Agent</a:t>
            </a:r>
            <a:r>
              <a:rPr lang="en-US" dirty="0"/>
              <a:t> – Compares extracted clauses against predefined compliance rules or standards.</a:t>
            </a:r>
          </a:p>
          <a:p>
            <a:pPr>
              <a:buNone/>
            </a:pPr>
            <a:r>
              <a:rPr lang="en-US" b="1" dirty="0"/>
              <a:t>8️⃣. Report Generation</a:t>
            </a:r>
            <a:r>
              <a:rPr lang="en-US" dirty="0"/>
              <a:t> – Summarizes validation outcomes into a structured compliance report (JSON/HTML).</a:t>
            </a:r>
          </a:p>
          <a:p>
            <a:pPr>
              <a:buNone/>
            </a:pPr>
            <a:r>
              <a:rPr lang="en-US" b="1" dirty="0"/>
              <a:t>9️⃣. Output Storage</a:t>
            </a:r>
            <a:r>
              <a:rPr lang="en-US" dirty="0"/>
              <a:t> – Saves the compliance report to Azure Blob Storage for tracking and audit purposes.</a:t>
            </a:r>
          </a:p>
          <a:p>
            <a:pPr>
              <a:buNone/>
            </a:pPr>
            <a:r>
              <a:rPr lang="en-US" b="1" dirty="0"/>
              <a:t>🔟. Human Review &amp; Feedback</a:t>
            </a:r>
            <a:r>
              <a:rPr lang="en-US" dirty="0"/>
              <a:t> – Optional review stage where legal teams verify flagged clauses and feed improvements back into the system.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4E19FC-1BCF-B14A-89E4-A436B3035864}"/>
              </a:ext>
            </a:extLst>
          </p:cNvPr>
          <p:cNvSpPr/>
          <p:nvPr/>
        </p:nvSpPr>
        <p:spPr>
          <a:xfrm>
            <a:off x="370114" y="359229"/>
            <a:ext cx="11092543" cy="6313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AI-Powered Legal Document Review System</a:t>
            </a:r>
          </a:p>
        </p:txBody>
      </p:sp>
    </p:spTree>
    <p:extLst>
      <p:ext uri="{BB962C8B-B14F-4D97-AF65-F5344CB8AC3E}">
        <p14:creationId xmlns:p14="http://schemas.microsoft.com/office/powerpoint/2010/main" val="4258874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Singh, Sunil E.</dc:creator>
  <cp:lastModifiedBy>Kumar Singh, Sunil E.</cp:lastModifiedBy>
  <cp:revision>1</cp:revision>
  <dcterms:created xsi:type="dcterms:W3CDTF">2025-11-07T08:18:48Z</dcterms:created>
  <dcterms:modified xsi:type="dcterms:W3CDTF">2025-11-07T08:25:26Z</dcterms:modified>
</cp:coreProperties>
</file>